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6C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5008 Final Project | Mengling Zhang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81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81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Maze Solver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280"/>
                </a:solidFill>
              </a:rPr>
              <a:t>BFS vs DFS in 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956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Mengling Zhang | CS 5008 Final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91440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91440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91440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0" y="91440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91440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81160" y="91440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0" y="91440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141732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1417320"/>
            <a:ext cx="493776" cy="493776"/>
          </a:xfrm>
          <a:prstGeom prst="rect">
            <a:avLst/>
          </a:prstGeom>
          <a:solidFill>
            <a:srgbClr val="1B8A5A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453896"/>
            <a:ext cx="493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1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815" dirty="0"/>
          </a:p>
        </p:txBody>
      </p:sp>
      <p:sp>
        <p:nvSpPr>
          <p:cNvPr id="15" name="Shape 13"/>
          <p:cNvSpPr/>
          <p:nvPr/>
        </p:nvSpPr>
        <p:spPr>
          <a:xfrm>
            <a:off x="7772400" y="1417320"/>
            <a:ext cx="493776" cy="493776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453896"/>
            <a:ext cx="493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1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1815" dirty="0"/>
          </a:p>
        </p:txBody>
      </p:sp>
      <p:sp>
        <p:nvSpPr>
          <p:cNvPr id="17" name="Shape 15"/>
          <p:cNvSpPr/>
          <p:nvPr/>
        </p:nvSpPr>
        <p:spPr>
          <a:xfrm>
            <a:off x="8275320" y="1417320"/>
            <a:ext cx="493776" cy="493776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453896"/>
            <a:ext cx="493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1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1815" dirty="0"/>
          </a:p>
        </p:txBody>
      </p:sp>
      <p:sp>
        <p:nvSpPr>
          <p:cNvPr id="19" name="Shape 17"/>
          <p:cNvSpPr/>
          <p:nvPr/>
        </p:nvSpPr>
        <p:spPr>
          <a:xfrm>
            <a:off x="8778240" y="1417320"/>
            <a:ext cx="493776" cy="493776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1453896"/>
            <a:ext cx="493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1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1815" dirty="0"/>
          </a:p>
        </p:txBody>
      </p:sp>
      <p:sp>
        <p:nvSpPr>
          <p:cNvPr id="21" name="Shape 19"/>
          <p:cNvSpPr/>
          <p:nvPr/>
        </p:nvSpPr>
        <p:spPr>
          <a:xfrm>
            <a:off x="9281160" y="1417320"/>
            <a:ext cx="493776" cy="493776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141732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92024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192024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192024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1920240"/>
            <a:ext cx="493776" cy="493776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0" y="1920240"/>
            <a:ext cx="493776" cy="493776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1956816"/>
            <a:ext cx="493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1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1815" dirty="0"/>
          </a:p>
        </p:txBody>
      </p:sp>
      <p:sp>
        <p:nvSpPr>
          <p:cNvPr id="29" name="Shape 27"/>
          <p:cNvSpPr/>
          <p:nvPr/>
        </p:nvSpPr>
        <p:spPr>
          <a:xfrm>
            <a:off x="9281160" y="1920240"/>
            <a:ext cx="493776" cy="493776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84080" y="192024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242316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9480" y="2423160"/>
            <a:ext cx="493776" cy="493776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2423160"/>
            <a:ext cx="493776" cy="493776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75320" y="2423160"/>
            <a:ext cx="493776" cy="493776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0" y="2423160"/>
            <a:ext cx="493776" cy="493776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0" y="2459736"/>
            <a:ext cx="493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1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1815" dirty="0"/>
          </a:p>
        </p:txBody>
      </p:sp>
      <p:sp>
        <p:nvSpPr>
          <p:cNvPr id="37" name="Shape 35"/>
          <p:cNvSpPr/>
          <p:nvPr/>
        </p:nvSpPr>
        <p:spPr>
          <a:xfrm>
            <a:off x="9281160" y="2423160"/>
            <a:ext cx="493776" cy="493776"/>
          </a:xfrm>
          <a:prstGeom prst="rect">
            <a:avLst/>
          </a:prstGeom>
          <a:solidFill>
            <a:srgbClr val="D94841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81160" y="2459736"/>
            <a:ext cx="493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1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815" dirty="0"/>
          </a:p>
        </p:txBody>
      </p:sp>
      <p:sp>
        <p:nvSpPr>
          <p:cNvPr id="39" name="Shape 37"/>
          <p:cNvSpPr/>
          <p:nvPr/>
        </p:nvSpPr>
        <p:spPr>
          <a:xfrm>
            <a:off x="9784080" y="242316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560" y="292608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69480" y="2926080"/>
            <a:ext cx="493776" cy="493776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292608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75320" y="292608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0" y="292608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81160" y="292608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84080" y="292608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342900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69480" y="3429000"/>
            <a:ext cx="493776" cy="493776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2400" y="3429000"/>
            <a:ext cx="493776" cy="493776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75320" y="3429000"/>
            <a:ext cx="493776" cy="493776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78240" y="3429000"/>
            <a:ext cx="493776" cy="493776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81160" y="3429000"/>
            <a:ext cx="493776" cy="493776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84080" y="342900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66560" y="393192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69480" y="393192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72400" y="393192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75320" y="393192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78240" y="393192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81160" y="393192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84080" y="3931920"/>
            <a:ext cx="493776" cy="493776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5800" y="38862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8DD"/>
          </a:solidFill>
          <a:ln w="12700">
            <a:solidFill>
              <a:srgbClr val="E7DDB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2960" y="4005072"/>
            <a:ext cx="49377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goal: read a maze file, run BFS and DFS, then compare the routes.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81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maze becomes a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program uses simple symbols and four-direction movement.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1417320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1056" y="1417320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66544" y="1417320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42032" y="1417320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417320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08" y="1417320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892808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1892808"/>
            <a:ext cx="466344" cy="466344"/>
          </a:xfrm>
          <a:prstGeom prst="rect">
            <a:avLst/>
          </a:prstGeom>
          <a:solidFill>
            <a:srgbClr val="1B8A5A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1929384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716" dirty="0"/>
          </a:p>
        </p:txBody>
      </p:sp>
      <p:sp>
        <p:nvSpPr>
          <p:cNvPr id="14" name="Shape 12"/>
          <p:cNvSpPr/>
          <p:nvPr/>
        </p:nvSpPr>
        <p:spPr>
          <a:xfrm>
            <a:off x="1591056" y="1892808"/>
            <a:ext cx="466344" cy="46634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66544" y="1892808"/>
            <a:ext cx="466344" cy="46634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42032" y="1892808"/>
            <a:ext cx="466344" cy="46634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1892808"/>
            <a:ext cx="466344" cy="466344"/>
          </a:xfrm>
          <a:prstGeom prst="rect">
            <a:avLst/>
          </a:prstGeom>
          <a:solidFill>
            <a:srgbClr val="D94841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929384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716" dirty="0"/>
          </a:p>
        </p:txBody>
      </p:sp>
      <p:sp>
        <p:nvSpPr>
          <p:cNvPr id="19" name="Shape 17"/>
          <p:cNvSpPr/>
          <p:nvPr/>
        </p:nvSpPr>
        <p:spPr>
          <a:xfrm>
            <a:off x="3493008" y="1892808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368296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5568" y="2368296"/>
            <a:ext cx="466344" cy="46634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91056" y="2368296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6544" y="2368296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42032" y="2368296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2368296"/>
            <a:ext cx="466344" cy="46634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93008" y="2368296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2843784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5568" y="2843784"/>
            <a:ext cx="466344" cy="46634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91056" y="2843784"/>
            <a:ext cx="466344" cy="46634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66544" y="2843784"/>
            <a:ext cx="466344" cy="46634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42032" y="2843784"/>
            <a:ext cx="466344" cy="46634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2843784"/>
            <a:ext cx="466344" cy="46634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93008" y="2843784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3319272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5568" y="3319272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91056" y="3319272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66544" y="3319272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42032" y="3319272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17520" y="3319272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93008" y="3319272"/>
            <a:ext cx="466344" cy="46634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1371600"/>
            <a:ext cx="29260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# = wall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. or space = open cell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S = start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E = end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343400" y="309067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07992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open cell is a node.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343400" y="354787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07992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Neighboring open cells are edges.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43400" y="400507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07992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Moves: up, right, down, left.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343400" y="446227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07992" y="4389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move costs 1 step.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38160" y="4983480"/>
            <a:ext cx="3337560" cy="749808"/>
          </a:xfrm>
          <a:prstGeom prst="roundRect">
            <a:avLst>
              <a:gd name="adj" fmla="val 9756"/>
            </a:avLst>
          </a:prstGeom>
          <a:solidFill>
            <a:srgbClr val="DCEAFE"/>
          </a:solidFill>
          <a:ln w="12700">
            <a:solidFill>
              <a:srgbClr val="E7DDB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75320" y="5102352"/>
            <a:ext cx="30632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all moves cost the same, BFS can find a shortest path without Dijkstra or A*.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81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BFS and DFS use different search rules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maze, different order of exploration.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</a:rPr>
              <a:t>BFS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04672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011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queue: first in, first out.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4672" y="258775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514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Searches level by level.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4672" y="309067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parent arrays to rebuild the path.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4672" y="359359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Guarantees a shortest route here.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56B2F"/>
                </a:solidFill>
              </a:rPr>
              <a:t>DFS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6565392" y="208483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2011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recursion.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65392" y="258775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9984" y="2514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Follows one branch deeply.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65392" y="309067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3017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Backtracks from dead ends.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65392" y="359359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a valid route, not always shortest.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2240280" y="4800600"/>
            <a:ext cx="7726680" cy="749808"/>
          </a:xfrm>
          <a:prstGeom prst="roundRect">
            <a:avLst>
              <a:gd name="adj" fmla="val 9756"/>
            </a:avLst>
          </a:prstGeom>
          <a:solidFill>
            <a:srgbClr val="FFF8DD"/>
          </a:solidFill>
          <a:ln w="12700">
            <a:solidFill>
              <a:srgbClr val="E7DD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4919472"/>
            <a:ext cx="74523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DFS does not use a parent array in my program. It marks the path while recursive calls return.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81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Actual demo: maze_compare.txt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file is designed with a short route and a longer route.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7592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9928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11096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12264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13432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15768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16936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8104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9272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22776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23944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25112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27448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28616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9784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30952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143560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5256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6424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7592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08760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09928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11096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12264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13432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14600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15768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16936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18104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19272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21608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22776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23944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25112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26280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27448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28616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29784" y="143560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30952" y="143560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4088" y="163677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5256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6424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07592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08760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09928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11096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12264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13432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14600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15768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16936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18104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19272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20440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721608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922776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123944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25112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26280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27448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28616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29784" y="163677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330952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02920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04088" y="1837944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05256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06424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307592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508760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09928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11096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112264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313432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514600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15768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916936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18104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19272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520440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21608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922776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123944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325112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526280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27448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928616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129784" y="1837944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330952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02920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04088" y="2039112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05256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06424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307592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508760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709928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911096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112264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313432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514600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715768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916936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118104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319272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520440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721608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22776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123944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25112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26280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27448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928616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29784" y="2039112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330952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02920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04088" y="2240280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05256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06424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307592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508760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709928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911096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112264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313432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514600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715768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916936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118104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319272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20440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721608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922776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123944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325112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526280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727448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928616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129784" y="2240280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30952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02920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04088" y="244144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05256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06424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307592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508760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709928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911096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112264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313432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514600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715768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916936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118104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319272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520440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721608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922776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123944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325112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526280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727448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928616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129784" y="2441448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330952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02920" y="264261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04088" y="2642616"/>
            <a:ext cx="192024" cy="192024"/>
          </a:xfrm>
          <a:prstGeom prst="rect">
            <a:avLst/>
          </a:prstGeom>
          <a:solidFill>
            <a:srgbClr val="1B8A5A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04088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905256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905256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1106424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106424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1307592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307592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1508760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508760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190" name="Shape 188"/>
          <p:cNvSpPr/>
          <p:nvPr/>
        </p:nvSpPr>
        <p:spPr>
          <a:xfrm>
            <a:off x="1709928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709928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1911096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1911096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194" name="Shape 192"/>
          <p:cNvSpPr/>
          <p:nvPr/>
        </p:nvSpPr>
        <p:spPr>
          <a:xfrm>
            <a:off x="2112264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112264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2313432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313432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>
            <a:off x="2514600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2514600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2715768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2715768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02" name="Shape 200"/>
          <p:cNvSpPr/>
          <p:nvPr/>
        </p:nvSpPr>
        <p:spPr>
          <a:xfrm>
            <a:off x="2916936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2916936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3118104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3118104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06" name="Shape 204"/>
          <p:cNvSpPr/>
          <p:nvPr/>
        </p:nvSpPr>
        <p:spPr>
          <a:xfrm>
            <a:off x="3319272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3319272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08" name="Shape 206"/>
          <p:cNvSpPr/>
          <p:nvPr/>
        </p:nvSpPr>
        <p:spPr>
          <a:xfrm>
            <a:off x="3520440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3520440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10" name="Shape 208"/>
          <p:cNvSpPr/>
          <p:nvPr/>
        </p:nvSpPr>
        <p:spPr>
          <a:xfrm>
            <a:off x="3721608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3721608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12" name="Shape 210"/>
          <p:cNvSpPr/>
          <p:nvPr/>
        </p:nvSpPr>
        <p:spPr>
          <a:xfrm>
            <a:off x="3922776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3922776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14" name="Shape 212"/>
          <p:cNvSpPr/>
          <p:nvPr/>
        </p:nvSpPr>
        <p:spPr>
          <a:xfrm>
            <a:off x="4123944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4123944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16" name="Shape 214"/>
          <p:cNvSpPr/>
          <p:nvPr/>
        </p:nvSpPr>
        <p:spPr>
          <a:xfrm>
            <a:off x="4325112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4325112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18" name="Shape 216"/>
          <p:cNvSpPr/>
          <p:nvPr/>
        </p:nvSpPr>
        <p:spPr>
          <a:xfrm>
            <a:off x="4526280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4526280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20" name="Shape 218"/>
          <p:cNvSpPr/>
          <p:nvPr/>
        </p:nvSpPr>
        <p:spPr>
          <a:xfrm>
            <a:off x="4727448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4727448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22" name="Shape 220"/>
          <p:cNvSpPr/>
          <p:nvPr/>
        </p:nvSpPr>
        <p:spPr>
          <a:xfrm>
            <a:off x="4928616" y="2642616"/>
            <a:ext cx="192024" cy="192024"/>
          </a:xfrm>
          <a:prstGeom prst="rect">
            <a:avLst/>
          </a:prstGeom>
          <a:solidFill>
            <a:srgbClr val="2563EB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4928616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24" name="Shape 222"/>
          <p:cNvSpPr/>
          <p:nvPr/>
        </p:nvSpPr>
        <p:spPr>
          <a:xfrm>
            <a:off x="5129784" y="2642616"/>
            <a:ext cx="192024" cy="192024"/>
          </a:xfrm>
          <a:prstGeom prst="rect">
            <a:avLst/>
          </a:prstGeom>
          <a:solidFill>
            <a:srgbClr val="D94841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5129784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800" dirty="0"/>
          </a:p>
        </p:txBody>
      </p:sp>
      <p:sp>
        <p:nvSpPr>
          <p:cNvPr id="226" name="Shape 224"/>
          <p:cNvSpPr/>
          <p:nvPr/>
        </p:nvSpPr>
        <p:spPr>
          <a:xfrm>
            <a:off x="5330952" y="264261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502920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04088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05256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06424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307592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508760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709928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911096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2112264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313432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2514600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2715768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2916936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3118104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3319272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520440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3721608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3922776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123944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325112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526280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4727448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4928616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5129784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5330952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68680" y="3154680"/>
            <a:ext cx="2880360" cy="347472"/>
          </a:xfrm>
          <a:prstGeom prst="roundRect">
            <a:avLst>
              <a:gd name="adj" fmla="val 15789"/>
            </a:avLst>
          </a:prstGeom>
          <a:solidFill>
            <a:srgbClr val="DCEAFE"/>
          </a:solidFill>
          <a:ln w="12700">
            <a:solidFill>
              <a:srgbClr val="DCEAFE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960120" y="322783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bottom path: 22 moves</a:t>
            </a:r>
            <a:endParaRPr lang="en-US" sz="1100" dirty="0"/>
          </a:p>
        </p:txBody>
      </p:sp>
      <p:sp>
        <p:nvSpPr>
          <p:cNvPr id="254" name="Shape 252"/>
          <p:cNvSpPr/>
          <p:nvPr/>
        </p:nvSpPr>
        <p:spPr>
          <a:xfrm>
            <a:off x="6172200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373368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6574536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6775704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6976872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178040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379208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80376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781544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982712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183880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385048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8586216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8787384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988552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189720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390888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592056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793224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994392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195560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0396728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0597896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0799064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1000232" y="123444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6172200" y="143560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6373368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6373368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82" name="Shape 280"/>
          <p:cNvSpPr/>
          <p:nvPr/>
        </p:nvSpPr>
        <p:spPr>
          <a:xfrm>
            <a:off x="6574536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6574536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84" name="Shape 282"/>
          <p:cNvSpPr/>
          <p:nvPr/>
        </p:nvSpPr>
        <p:spPr>
          <a:xfrm>
            <a:off x="6775704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6775704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86" name="Shape 284"/>
          <p:cNvSpPr/>
          <p:nvPr/>
        </p:nvSpPr>
        <p:spPr>
          <a:xfrm>
            <a:off x="6976872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6976872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88" name="Shape 286"/>
          <p:cNvSpPr/>
          <p:nvPr/>
        </p:nvSpPr>
        <p:spPr>
          <a:xfrm>
            <a:off x="7178040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7178040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90" name="Shape 288"/>
          <p:cNvSpPr/>
          <p:nvPr/>
        </p:nvSpPr>
        <p:spPr>
          <a:xfrm>
            <a:off x="7379208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7379208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92" name="Shape 290"/>
          <p:cNvSpPr/>
          <p:nvPr/>
        </p:nvSpPr>
        <p:spPr>
          <a:xfrm>
            <a:off x="7580376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7580376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94" name="Shape 292"/>
          <p:cNvSpPr/>
          <p:nvPr/>
        </p:nvSpPr>
        <p:spPr>
          <a:xfrm>
            <a:off x="7781544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7781544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96" name="Shape 294"/>
          <p:cNvSpPr/>
          <p:nvPr/>
        </p:nvSpPr>
        <p:spPr>
          <a:xfrm>
            <a:off x="7982712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7982712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298" name="Shape 296"/>
          <p:cNvSpPr/>
          <p:nvPr/>
        </p:nvSpPr>
        <p:spPr>
          <a:xfrm>
            <a:off x="8183880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8183880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00" name="Shape 298"/>
          <p:cNvSpPr/>
          <p:nvPr/>
        </p:nvSpPr>
        <p:spPr>
          <a:xfrm>
            <a:off x="8385048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8385048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02" name="Shape 300"/>
          <p:cNvSpPr/>
          <p:nvPr/>
        </p:nvSpPr>
        <p:spPr>
          <a:xfrm>
            <a:off x="8586216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8586216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04" name="Shape 302"/>
          <p:cNvSpPr/>
          <p:nvPr/>
        </p:nvSpPr>
        <p:spPr>
          <a:xfrm>
            <a:off x="8787384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8787384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06" name="Shape 304"/>
          <p:cNvSpPr/>
          <p:nvPr/>
        </p:nvSpPr>
        <p:spPr>
          <a:xfrm>
            <a:off x="8988552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8988552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08" name="Shape 306"/>
          <p:cNvSpPr/>
          <p:nvPr/>
        </p:nvSpPr>
        <p:spPr>
          <a:xfrm>
            <a:off x="9189720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9189720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10" name="Shape 308"/>
          <p:cNvSpPr/>
          <p:nvPr/>
        </p:nvSpPr>
        <p:spPr>
          <a:xfrm>
            <a:off x="9390888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9390888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12" name="Shape 310"/>
          <p:cNvSpPr/>
          <p:nvPr/>
        </p:nvSpPr>
        <p:spPr>
          <a:xfrm>
            <a:off x="9592056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9592056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14" name="Shape 312"/>
          <p:cNvSpPr/>
          <p:nvPr/>
        </p:nvSpPr>
        <p:spPr>
          <a:xfrm>
            <a:off x="9793224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9793224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16" name="Shape 314"/>
          <p:cNvSpPr/>
          <p:nvPr/>
        </p:nvSpPr>
        <p:spPr>
          <a:xfrm>
            <a:off x="9994392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9994392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18" name="Shape 316"/>
          <p:cNvSpPr/>
          <p:nvPr/>
        </p:nvSpPr>
        <p:spPr>
          <a:xfrm>
            <a:off x="10195560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19" name="Text 317"/>
          <p:cNvSpPr/>
          <p:nvPr/>
        </p:nvSpPr>
        <p:spPr>
          <a:xfrm>
            <a:off x="10195560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20" name="Shape 318"/>
          <p:cNvSpPr/>
          <p:nvPr/>
        </p:nvSpPr>
        <p:spPr>
          <a:xfrm>
            <a:off x="10396728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10396728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22" name="Shape 320"/>
          <p:cNvSpPr/>
          <p:nvPr/>
        </p:nvSpPr>
        <p:spPr>
          <a:xfrm>
            <a:off x="10597896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10597896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24" name="Shape 322"/>
          <p:cNvSpPr/>
          <p:nvPr/>
        </p:nvSpPr>
        <p:spPr>
          <a:xfrm>
            <a:off x="10799064" y="143560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10799064" y="147218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26" name="Shape 324"/>
          <p:cNvSpPr/>
          <p:nvPr/>
        </p:nvSpPr>
        <p:spPr>
          <a:xfrm>
            <a:off x="11000232" y="143560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6172200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6373368" y="1636776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6373368" y="167335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30" name="Shape 328"/>
          <p:cNvSpPr/>
          <p:nvPr/>
        </p:nvSpPr>
        <p:spPr>
          <a:xfrm>
            <a:off x="6574536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6775704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6976872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7178040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7379208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7580376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7781544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7982712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8183880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8385048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8586216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8787384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8988552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9189720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9390888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9592056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9793224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9994392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10195560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0396728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0597896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0799064" y="1636776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10799064" y="167335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53" name="Shape 351"/>
          <p:cNvSpPr/>
          <p:nvPr/>
        </p:nvSpPr>
        <p:spPr>
          <a:xfrm>
            <a:off x="11000232" y="163677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172200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373368" y="1837944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56" name="Text 354"/>
          <p:cNvSpPr/>
          <p:nvPr/>
        </p:nvSpPr>
        <p:spPr>
          <a:xfrm>
            <a:off x="6373368" y="1874520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57" name="Shape 355"/>
          <p:cNvSpPr/>
          <p:nvPr/>
        </p:nvSpPr>
        <p:spPr>
          <a:xfrm>
            <a:off x="6574536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6775704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6976872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7178040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7379208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7580376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7781544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7982712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8183880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8385048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8586216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8787384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8988552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9189720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9390888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9592056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9793224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9994392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10195560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10396728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10597896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10799064" y="1837944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79" name="Text 377"/>
          <p:cNvSpPr/>
          <p:nvPr/>
        </p:nvSpPr>
        <p:spPr>
          <a:xfrm>
            <a:off x="10799064" y="1874520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80" name="Shape 378"/>
          <p:cNvSpPr/>
          <p:nvPr/>
        </p:nvSpPr>
        <p:spPr>
          <a:xfrm>
            <a:off x="11000232" y="183794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6172200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6373368" y="2039112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83" name="Text 381"/>
          <p:cNvSpPr/>
          <p:nvPr/>
        </p:nvSpPr>
        <p:spPr>
          <a:xfrm>
            <a:off x="6373368" y="2075688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384" name="Shape 382"/>
          <p:cNvSpPr/>
          <p:nvPr/>
        </p:nvSpPr>
        <p:spPr>
          <a:xfrm>
            <a:off x="6574536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6775704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6976872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7178040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7379208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580376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7781544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7982712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8183880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8385048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8586216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8787384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8988552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9189720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9390888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9592056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9793224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9994392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10195560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10396728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10597896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10799064" y="2039112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06" name="Text 404"/>
          <p:cNvSpPr/>
          <p:nvPr/>
        </p:nvSpPr>
        <p:spPr>
          <a:xfrm>
            <a:off x="10799064" y="2075688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407" name="Shape 405"/>
          <p:cNvSpPr/>
          <p:nvPr/>
        </p:nvSpPr>
        <p:spPr>
          <a:xfrm>
            <a:off x="11000232" y="2039112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6172200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6373368" y="2240280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10" name="Text 408"/>
          <p:cNvSpPr/>
          <p:nvPr/>
        </p:nvSpPr>
        <p:spPr>
          <a:xfrm>
            <a:off x="6373368" y="2276856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411" name="Shape 409"/>
          <p:cNvSpPr/>
          <p:nvPr/>
        </p:nvSpPr>
        <p:spPr>
          <a:xfrm>
            <a:off x="6574536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6775704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6976872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7178040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7379208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7580376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7781544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7982712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8183880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8385048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8586216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8787384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8988552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9189720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9390888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9592056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9793224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9994392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10195560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10396728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10597896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10799064" y="2240280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33" name="Text 431"/>
          <p:cNvSpPr/>
          <p:nvPr/>
        </p:nvSpPr>
        <p:spPr>
          <a:xfrm>
            <a:off x="10799064" y="2276856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434" name="Shape 432"/>
          <p:cNvSpPr/>
          <p:nvPr/>
        </p:nvSpPr>
        <p:spPr>
          <a:xfrm>
            <a:off x="11000232" y="2240280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6172200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6373368" y="244144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37" name="Text 435"/>
          <p:cNvSpPr/>
          <p:nvPr/>
        </p:nvSpPr>
        <p:spPr>
          <a:xfrm>
            <a:off x="6373368" y="247802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438" name="Shape 436"/>
          <p:cNvSpPr/>
          <p:nvPr/>
        </p:nvSpPr>
        <p:spPr>
          <a:xfrm>
            <a:off x="6574536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6775704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6976872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7178040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7379208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7580376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7781544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7982712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8183880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8385048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8586216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8787384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8988552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9189720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9390888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9592056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9793224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9994392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10195560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10396728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10597896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10799064" y="2441448"/>
            <a:ext cx="192024" cy="192024"/>
          </a:xfrm>
          <a:prstGeom prst="rect">
            <a:avLst/>
          </a:prstGeom>
          <a:solidFill>
            <a:srgbClr val="E56B2F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60" name="Text 458"/>
          <p:cNvSpPr/>
          <p:nvPr/>
        </p:nvSpPr>
        <p:spPr>
          <a:xfrm>
            <a:off x="10799064" y="2478024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800" dirty="0"/>
          </a:p>
        </p:txBody>
      </p:sp>
      <p:sp>
        <p:nvSpPr>
          <p:cNvPr id="461" name="Shape 459"/>
          <p:cNvSpPr/>
          <p:nvPr/>
        </p:nvSpPr>
        <p:spPr>
          <a:xfrm>
            <a:off x="11000232" y="2441448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6172200" y="264261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6373368" y="2642616"/>
            <a:ext cx="192024" cy="192024"/>
          </a:xfrm>
          <a:prstGeom prst="rect">
            <a:avLst/>
          </a:prstGeom>
          <a:solidFill>
            <a:srgbClr val="1B8A5A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64" name="Text 462"/>
          <p:cNvSpPr/>
          <p:nvPr/>
        </p:nvSpPr>
        <p:spPr>
          <a:xfrm>
            <a:off x="6373368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800" dirty="0"/>
          </a:p>
        </p:txBody>
      </p:sp>
      <p:sp>
        <p:nvSpPr>
          <p:cNvPr id="465" name="Shape 463"/>
          <p:cNvSpPr/>
          <p:nvPr/>
        </p:nvSpPr>
        <p:spPr>
          <a:xfrm>
            <a:off x="6574536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6775704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6976872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7178040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7379208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7580376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7781544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7982712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8183880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8385048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8586216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8787384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8988552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9189720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9390888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9592056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9793224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9994392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10195560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10396728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10597896" y="2642616"/>
            <a:ext cx="192024" cy="192024"/>
          </a:xfrm>
          <a:prstGeom prst="rect">
            <a:avLst/>
          </a:prstGeom>
          <a:solidFill>
            <a:srgbClr val="FFFDF7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10799064" y="2642616"/>
            <a:ext cx="192024" cy="192024"/>
          </a:xfrm>
          <a:prstGeom prst="rect">
            <a:avLst/>
          </a:prstGeom>
          <a:solidFill>
            <a:srgbClr val="D94841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87" name="Text 485"/>
          <p:cNvSpPr/>
          <p:nvPr/>
        </p:nvSpPr>
        <p:spPr>
          <a:xfrm>
            <a:off x="10799064" y="2679192"/>
            <a:ext cx="192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800" dirty="0"/>
          </a:p>
        </p:txBody>
      </p:sp>
      <p:sp>
        <p:nvSpPr>
          <p:cNvPr id="488" name="Shape 486"/>
          <p:cNvSpPr/>
          <p:nvPr/>
        </p:nvSpPr>
        <p:spPr>
          <a:xfrm>
            <a:off x="11000232" y="2642616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6172200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6373368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6574536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6775704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6976872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7178040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7379208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7580376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7781544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7982712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8183880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8385048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8586216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8787384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8988552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9189720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9390888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9592056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793224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9994392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10195560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10396728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10597896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10799064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11000232" y="2843784"/>
            <a:ext cx="192024" cy="192024"/>
          </a:xfrm>
          <a:prstGeom prst="rect">
            <a:avLst/>
          </a:prstGeom>
          <a:solidFill>
            <a:srgbClr val="222222"/>
          </a:solidFill>
          <a:ln w="5715">
            <a:solidFill>
              <a:srgbClr val="B7AEA2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6355080" y="3154680"/>
            <a:ext cx="2971800" cy="347472"/>
          </a:xfrm>
          <a:prstGeom prst="roundRect">
            <a:avLst>
              <a:gd name="adj" fmla="val 15789"/>
            </a:avLst>
          </a:prstGeom>
          <a:solidFill>
            <a:srgbClr val="FCE7D5"/>
          </a:solidFill>
          <a:ln w="12700">
            <a:solidFill>
              <a:srgbClr val="FCE7D5"/>
            </a:solidFill>
            <a:prstDash val="solid"/>
          </a:ln>
        </p:spPr>
      </p:sp>
      <p:sp>
        <p:nvSpPr>
          <p:cNvPr id="515" name="Text 513"/>
          <p:cNvSpPr/>
          <p:nvPr/>
        </p:nvSpPr>
        <p:spPr>
          <a:xfrm>
            <a:off x="6446520" y="322783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upper path: 34 moves</a:t>
            </a:r>
            <a:endParaRPr lang="en-US" sz="1100" dirty="0"/>
          </a:p>
        </p:txBody>
      </p:sp>
      <p:sp>
        <p:nvSpPr>
          <p:cNvPr id="516" name="Shape 514"/>
          <p:cNvSpPr/>
          <p:nvPr/>
        </p:nvSpPr>
        <p:spPr>
          <a:xfrm>
            <a:off x="731520" y="4251960"/>
            <a:ext cx="5989320" cy="594360"/>
          </a:xfrm>
          <a:prstGeom prst="roundRect">
            <a:avLst>
              <a:gd name="adj" fmla="val 12308"/>
            </a:avLst>
          </a:prstGeom>
          <a:solidFill>
            <a:srgbClr val="F2F2F2"/>
          </a:solidFill>
          <a:ln w="12700">
            <a:solidFill>
              <a:srgbClr val="E7DDBE"/>
            </a:solidFill>
            <a:prstDash val="solid"/>
          </a:ln>
        </p:spPr>
      </p:sp>
      <p:sp>
        <p:nvSpPr>
          <p:cNvPr id="517" name="Text 515"/>
          <p:cNvSpPr/>
          <p:nvPr/>
        </p:nvSpPr>
        <p:spPr>
          <a:xfrm>
            <a:off x="868680" y="4370832"/>
            <a:ext cx="5715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command: ./maze_solver mazes/maze_compare.txt</a:t>
            </a:r>
            <a:endParaRPr lang="en-US" sz="1300" dirty="0"/>
          </a:p>
        </p:txBody>
      </p:sp>
      <p:sp>
        <p:nvSpPr>
          <p:cNvPr id="518" name="Text 516"/>
          <p:cNvSpPr/>
          <p:nvPr/>
        </p:nvSpPr>
        <p:spPr>
          <a:xfrm>
            <a:off x="7086600" y="427939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Same input → different route because the algorithms search in different order.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81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A: DFS can look faster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100×100 grid, S top-left, E bottom-right.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50164" cy="550164"/>
          </a:xfrm>
          <a:prstGeom prst="rect">
            <a:avLst/>
          </a:prstGeom>
          <a:solidFill>
            <a:srgbClr val="1B8A5A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6840" y="1417320"/>
            <a:ext cx="550164" cy="550164"/>
          </a:xfrm>
          <a:prstGeom prst="rect">
            <a:avLst/>
          </a:prstGeom>
          <a:solidFill>
            <a:srgbClr val="E56B2F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0720" y="1417320"/>
            <a:ext cx="550164" cy="550164"/>
          </a:xfrm>
          <a:prstGeom prst="rect">
            <a:avLst/>
          </a:prstGeom>
          <a:solidFill>
            <a:srgbClr val="E56B2F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1417320"/>
            <a:ext cx="550164" cy="550164"/>
          </a:xfrm>
          <a:prstGeom prst="rect">
            <a:avLst/>
          </a:prstGeom>
          <a:solidFill>
            <a:srgbClr val="E56B2F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78480" y="1417320"/>
            <a:ext cx="550164" cy="550164"/>
          </a:xfrm>
          <a:prstGeom prst="rect">
            <a:avLst/>
          </a:prstGeom>
          <a:solidFill>
            <a:srgbClr val="E56B2F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42360" y="1417320"/>
            <a:ext cx="550164" cy="550164"/>
          </a:xfrm>
          <a:prstGeom prst="rect">
            <a:avLst/>
          </a:prstGeom>
          <a:solidFill>
            <a:srgbClr val="E56B2F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98120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6840" y="198120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50720" y="198120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98120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8480" y="198120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2360" y="1981200"/>
            <a:ext cx="550164" cy="550164"/>
          </a:xfrm>
          <a:prstGeom prst="rect">
            <a:avLst/>
          </a:prstGeom>
          <a:solidFill>
            <a:srgbClr val="E56B2F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54508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6840" y="254508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50720" y="254508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254508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78480" y="254508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42360" y="2545080"/>
            <a:ext cx="550164" cy="550164"/>
          </a:xfrm>
          <a:prstGeom prst="rect">
            <a:avLst/>
          </a:prstGeom>
          <a:solidFill>
            <a:srgbClr val="E56B2F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10896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86840" y="310896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50720" y="310896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310896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78480" y="310896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42360" y="3108960"/>
            <a:ext cx="550164" cy="550164"/>
          </a:xfrm>
          <a:prstGeom prst="rect">
            <a:avLst/>
          </a:prstGeom>
          <a:solidFill>
            <a:srgbClr val="E56B2F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367284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86840" y="367284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50720" y="367284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14600" y="367284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78480" y="367284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42360" y="3672840"/>
            <a:ext cx="550164" cy="550164"/>
          </a:xfrm>
          <a:prstGeom prst="rect">
            <a:avLst/>
          </a:prstGeom>
          <a:solidFill>
            <a:srgbClr val="E56B2F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423672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86840" y="423672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0720" y="423672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14600" y="423672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78480" y="423672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42360" y="4236720"/>
            <a:ext cx="550164" cy="550164"/>
          </a:xfrm>
          <a:prstGeom prst="rect">
            <a:avLst/>
          </a:prstGeom>
          <a:solidFill>
            <a:srgbClr val="D94841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" y="4983480"/>
            <a:ext cx="3108960" cy="347472"/>
          </a:xfrm>
          <a:prstGeom prst="roundRect">
            <a:avLst>
              <a:gd name="adj" fmla="val 15789"/>
            </a:avLst>
          </a:prstGeom>
          <a:solidFill>
            <a:srgbClr val="DDF3E7"/>
          </a:solidFill>
          <a:ln w="12700">
            <a:solidFill>
              <a:srgbClr val="DDF3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" y="50566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= S, red = 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1554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DFS direction order: up → right → down → left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4754880" y="222199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2148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top-left, up is blocked, so DFS goes right.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4754880" y="277063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26974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can reach the far corner by following the top row, then the right side.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4754880" y="331927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32461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expands by distance, so it may explore almost the whole grid first.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4709160" y="4251960"/>
            <a:ext cx="6263640" cy="804672"/>
          </a:xfrm>
          <a:prstGeom prst="roundRect">
            <a:avLst>
              <a:gd name="adj" fmla="val 9091"/>
            </a:avLst>
          </a:prstGeom>
          <a:solidFill>
            <a:srgbClr val="FFF8DD"/>
          </a:solidFill>
          <a:ln w="12700">
            <a:solidFill>
              <a:srgbClr val="E7DDB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4370832"/>
            <a:ext cx="59893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idea: DFS visits about 199 cells; BFS may visit close to 10,000 cells. This is a case where DFS can finish earlier.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81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B: BFS can be much faster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100×100 grid, E is directly below 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50164" cy="550164"/>
          </a:xfrm>
          <a:prstGeom prst="rect">
            <a:avLst/>
          </a:prstGeom>
          <a:solidFill>
            <a:srgbClr val="1B8A5A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6840" y="141732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0720" y="141732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141732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78480" y="141732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42360" y="141732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981200"/>
            <a:ext cx="550164" cy="550164"/>
          </a:xfrm>
          <a:prstGeom prst="rect">
            <a:avLst/>
          </a:prstGeom>
          <a:solidFill>
            <a:srgbClr val="D94841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6840" y="198120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50720" y="198120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98120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8480" y="198120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2360" y="198120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54508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6840" y="254508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50720" y="254508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254508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78480" y="254508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42360" y="254508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10896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86840" y="310896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50720" y="310896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310896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78480" y="310896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42360" y="310896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367284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86840" y="367284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50720" y="367284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14600" y="367284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78480" y="3672840"/>
            <a:ext cx="550164" cy="550164"/>
          </a:xfrm>
          <a:prstGeom prst="rect">
            <a:avLst/>
          </a:prstGeom>
          <a:solidFill>
            <a:srgbClr val="FFFDF7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42360" y="367284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423672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86840" y="423672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0720" y="423672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14600" y="423672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78480" y="423672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42360" y="4236720"/>
            <a:ext cx="550164" cy="550164"/>
          </a:xfrm>
          <a:prstGeom prst="rect">
            <a:avLst/>
          </a:prstGeom>
          <a:solidFill>
            <a:srgbClr val="FCE7D5"/>
          </a:solidFill>
          <a:ln w="5080">
            <a:solidFill>
              <a:srgbClr val="B7AEA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" y="4983480"/>
            <a:ext cx="3108960" cy="347472"/>
          </a:xfrm>
          <a:prstGeom prst="roundRect">
            <a:avLst>
              <a:gd name="adj" fmla="val 15789"/>
            </a:avLst>
          </a:prstGeom>
          <a:solidFill>
            <a:srgbClr val="DDF3E7"/>
          </a:solidFill>
          <a:ln w="12700">
            <a:solidFill>
              <a:srgbClr val="DDF3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" y="50566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= S, red = 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1554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Same DFS order: up → right → down → left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4754880" y="222199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21488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checks all 1-step neighbors and finds E almost immediately.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4754880" y="277063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2697480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checks right before down, so it may follow a long route first.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4754880" y="331927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32461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speed depends heavily on direction order and where E is located.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4709160" y="4251960"/>
            <a:ext cx="6263640" cy="804672"/>
          </a:xfrm>
          <a:prstGeom prst="roundRect">
            <a:avLst>
              <a:gd name="adj" fmla="val 9091"/>
            </a:avLst>
          </a:prstGeom>
          <a:solidFill>
            <a:srgbClr val="FFF8DD"/>
          </a:solidFill>
          <a:ln w="12700">
            <a:solidFill>
              <a:srgbClr val="E7DDB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4370832"/>
            <a:ext cx="59893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shows why DFS is not always faster. If it chooses a bad first direction, it can wander before reaching a nearby 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81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Complexity and scale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m = rows and n = columns.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BFS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37490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Time: O(m × 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Space: O(m × 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Queue + visited + parent arrays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6B2F"/>
                </a:solidFill>
              </a:rPr>
              <a:t>DFS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1874520"/>
            <a:ext cx="38404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Time: O(m × 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Space: O(m × 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Visited + path + recursion stack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3886200"/>
            <a:ext cx="9692640" cy="777240"/>
          </a:xfrm>
          <a:prstGeom prst="roundRect">
            <a:avLst>
              <a:gd name="adj" fmla="val 9412"/>
            </a:avLst>
          </a:prstGeom>
          <a:solidFill>
            <a:srgbClr val="DDF3E7"/>
          </a:solidFill>
          <a:ln w="12700">
            <a:solidFill>
              <a:srgbClr val="E7DD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4005072"/>
            <a:ext cx="94183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cell is visited at most once, and each cell checks up to four neighbors. Running BFS then DFS is still O(m × n) overall.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43000" y="4892040"/>
            <a:ext cx="9692640" cy="777240"/>
          </a:xfrm>
          <a:prstGeom prst="roundRect">
            <a:avLst>
              <a:gd name="adj" fmla="val 9412"/>
            </a:avLst>
          </a:prstGeom>
          <a:solidFill>
            <a:srgbClr val="FFF8DD"/>
          </a:solidFill>
          <a:ln w="12700">
            <a:solidFill>
              <a:srgbClr val="E7DD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5010912"/>
            <a:ext cx="94183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code uses fixed arrays. To support much larger mazes, I would use dynamic memory and change recursive DFS to an explicit stack.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81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Takeaway: choose based on the goal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Neither BFS nor DFS is always faster.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</a:rPr>
              <a:t>Use BFS when...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05840" y="213055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shortest path matters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005840" y="272491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651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moves have the same cost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05840" y="331927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246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afford the queue memory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56B2F"/>
                </a:solidFill>
              </a:rPr>
              <a:t>Use DFS when...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492240" y="213055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valid path is enough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92240" y="272491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exploration fits the problem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92240" y="331927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3246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direction order may help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2331720" y="4709160"/>
            <a:ext cx="7406640" cy="777240"/>
          </a:xfrm>
          <a:prstGeom prst="roundRect">
            <a:avLst>
              <a:gd name="adj" fmla="val 9412"/>
            </a:avLst>
          </a:prstGeom>
          <a:solidFill>
            <a:srgbClr val="DCEAFE"/>
          </a:solidFill>
          <a:ln w="12700">
            <a:solidFill>
              <a:srgbClr val="E7DD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4828032"/>
            <a:ext cx="71323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conclusion: Same complexity, different behavior. The best algorithm depends on the maze and the goal.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81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Northeastern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Maze Solver: BFS and DFS Comparison</dc:title>
  <dc:subject>CS 5008 Final Project - Maze Solver</dc:subject>
  <dc:creator>Mengling Zhang</dc:creator>
  <cp:lastModifiedBy>Mengling Zhang</cp:lastModifiedBy>
  <cp:revision>1</cp:revision>
  <dcterms:created xsi:type="dcterms:W3CDTF">2026-08-04T01:34:59Z</dcterms:created>
  <dcterms:modified xsi:type="dcterms:W3CDTF">2026-08-04T01:34:59Z</dcterms:modified>
</cp:coreProperties>
</file>