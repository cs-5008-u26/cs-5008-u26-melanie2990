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646464"/>
                </a:solidFill>
                <a:latin typeface="Aptos"/>
              </a:rPr>
              <a:t>CS 5008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183D5B"/>
                </a:solidFill>
                <a:latin typeface="Aptos"/>
              </a:rPr>
              <a:t>Maze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2F5496"/>
                </a:solidFill>
                <a:latin typeface="Aptos"/>
              </a:rPr>
              <a:t>Comparing BFS and DFS in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3657600"/>
            <a:ext cx="7406640" cy="114300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183D5B"/>
                </a:solidFill>
                <a:latin typeface="Aptos"/>
              </a:rPr>
              <a:t>Project goal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Read one maze file, solve it with BFS and DFS, then compare path length and explored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32323"/>
                </a:solidFill>
                <a:latin typeface="Aptos"/>
              </a:rPr>
              <a:t>Mengling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Maze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6464"/>
                </a:solidFill>
                <a:latin typeface="Aptos"/>
              </a:rPr>
              <a:t>The program reads a rectangular text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983480" cy="3383280"/>
          </a:xfrm>
          <a:prstGeom prst="roundRect">
            <a:avLst/>
          </a:prstGeom>
          <a:solidFill>
            <a:srgbClr val="1E242B"/>
          </a:solidFill>
          <a:ln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250" b="0">
                <a:solidFill>
                  <a:srgbClr val="E6EBF0"/>
                </a:solidFill>
                <a:latin typeface="Courier New"/>
              </a:rPr>
              <a:t>#########################
#.......................#
#.#####################.#
#.#####################.#
#.#####################.#
#.#####################.#
#.#####################.#
#S.....................E#
#########################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17320"/>
            <a:ext cx="256032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3000" b="1">
                <a:solidFill>
                  <a:srgbClr val="183D5B"/>
                </a:solidFill>
                <a:latin typeface="Aptos"/>
              </a:rPr>
              <a:t>#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wall
Cannot 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417320"/>
            <a:ext cx="2606040" cy="123444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3000" b="1">
                <a:solidFill>
                  <a:srgbClr val="4E814A"/>
                </a:solidFill>
                <a:latin typeface="Aptos"/>
              </a:rPr>
              <a:t>.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open cell
Can 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971800"/>
            <a:ext cx="2560320" cy="114300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3000" b="1">
                <a:solidFill>
                  <a:srgbClr val="2F5496"/>
                </a:solidFill>
                <a:latin typeface="Aptos"/>
              </a:rPr>
              <a:t>S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start cell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971800"/>
            <a:ext cx="2606040" cy="1143000"/>
          </a:xfrm>
          <a:prstGeom prst="roundRect">
            <a:avLst/>
          </a:prstGeom>
          <a:solidFill>
            <a:srgbClr val="FCEBD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3000" b="1">
                <a:solidFill>
                  <a:srgbClr val="C87026"/>
                </a:solidFill>
                <a:latin typeface="Aptos"/>
              </a:rPr>
              <a:t>E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end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434840"/>
            <a:ext cx="5394960" cy="896112"/>
          </a:xfrm>
          <a:prstGeom prst="roundRect">
            <a:avLst/>
          </a:prstGeom>
          <a:solidFill>
            <a:srgbClr val="FAFA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83D5B"/>
                </a:solidFill>
                <a:latin typeface="Aptos"/>
              </a:rPr>
              <a:t>* and +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232323"/>
                </a:solidFill>
                <a:latin typeface="Aptos"/>
              </a:rPr>
              <a:t>* = final route    + = explored but not final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87568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Movement: up, right, down, left only. Every move costs one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How the maze becomes a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91840" cy="123444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2F5496"/>
                </a:solidFill>
                <a:latin typeface="Aptos"/>
              </a:rPr>
              <a:t>Open cell = node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32323"/>
                </a:solidFill>
                <a:latin typeface="Aptos"/>
              </a:rPr>
              <a:t>Each cell that is not a wall can be visited by the algorithm.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17320"/>
            <a:ext cx="3291840" cy="123444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4E814A"/>
                </a:solidFill>
                <a:latin typeface="Aptos"/>
              </a:rPr>
              <a:t>Neighbor = edge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32323"/>
                </a:solidFill>
                <a:latin typeface="Aptos"/>
              </a:rPr>
              <a:t>Two open cells are connected if they touch up, right, down, or left.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246120" cy="1234440"/>
          </a:xfrm>
          <a:prstGeom prst="roundRect">
            <a:avLst/>
          </a:prstGeom>
          <a:solidFill>
            <a:srgbClr val="FCEBD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C87026"/>
                </a:solidFill>
                <a:latin typeface="Aptos"/>
              </a:rPr>
              <a:t>Unweighted graph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32323"/>
                </a:solidFill>
                <a:latin typeface="Aptos"/>
              </a:rPr>
              <a:t>Each movement counts as one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291840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291840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291840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291840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767328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767328"/>
            <a:ext cx="457200" cy="347472"/>
          </a:xfrm>
          <a:prstGeom prst="roundRect">
            <a:avLst/>
          </a:prstGeom>
          <a:solidFill>
            <a:srgbClr val="464646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767328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767328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242816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242816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242816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4242816"/>
            <a:ext cx="457200" cy="347472"/>
          </a:xfrm>
          <a:prstGeom prst="roundRect">
            <a:avLst/>
          </a:prstGeom>
          <a:solidFill>
            <a:srgbClr val="F5F7FA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ptos"/>
              </a:rPr>
              <a:t>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154680"/>
            <a:ext cx="5120640" cy="1417320"/>
          </a:xfrm>
          <a:prstGeom prst="roundRect">
            <a:avLst/>
          </a:prstGeom>
          <a:solidFill>
            <a:srgbClr val="FAFA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183D5B"/>
                </a:solidFill>
                <a:latin typeface="Aptos"/>
              </a:rPr>
              <a:t>Visited arrays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BFS and DFS mark cells they have already checked, so they do not loop forever.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0881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Because the graph is unweighted, BFS can find a shortest path without Dijkstra or A*.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BFS and DFS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212080" cy="219456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400" b="1">
                <a:solidFill>
                  <a:srgbClr val="2F5496"/>
                </a:solidFill>
                <a:latin typeface="Aptos"/>
              </a:rPr>
              <a:t>BFS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232323"/>
                </a:solidFill>
                <a:latin typeface="Aptos"/>
              </a:rPr>
              <a:t>Uses a queue
Checks closer cells first
Uses parentRow and parentColumn
Rebuilds the route from E back to S
Finds a shortest route in this maze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400" b="1">
                <a:solidFill>
                  <a:srgbClr val="4E814A"/>
                </a:solidFill>
                <a:latin typeface="Aptos"/>
              </a:rPr>
              <a:t>DFS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232323"/>
                </a:solidFill>
                <a:latin typeface="Aptos"/>
              </a:rPr>
              <a:t>Uses recursion
Follows one branch deeply
Backtracks from dead ends
Does not use parent arrays here
Finds a route, not always shortest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60520"/>
            <a:ext cx="4754880" cy="1051560"/>
          </a:xfrm>
          <a:prstGeom prst="roundRect">
            <a:avLst/>
          </a:prstGeom>
          <a:solidFill>
            <a:srgbClr val="1E242B"/>
          </a:solidFill>
          <a:ln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E6EBF0"/>
                </a:solidFill>
                <a:latin typeface="Courier New"/>
              </a:rPr>
              <a:t>BFS: add to rear, remove from front
queue = first in, first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60520"/>
            <a:ext cx="4754880" cy="1051560"/>
          </a:xfrm>
          <a:prstGeom prst="roundRect">
            <a:avLst/>
          </a:prstGeom>
          <a:solidFill>
            <a:srgbClr val="1E242B"/>
          </a:solidFill>
          <a:ln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E6EBF0"/>
                </a:solidFill>
                <a:latin typeface="Courier New"/>
              </a:rPr>
              <a:t>DFS: searchDfs(row, column)
function calls itself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87568"/>
            <a:ext cx="107899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The same maze can produce different routes because the algorithms search in different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Program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128016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2F5496"/>
                </a:solidFill>
                <a:latin typeface="Aptos"/>
              </a:rPr>
              <a:t>Main data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232323"/>
                </a:solidFill>
                <a:latin typeface="Aptos"/>
              </a:rPr>
              <a:t>maze[][]
Position { row, column }
visited and path arrays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25880"/>
            <a:ext cx="3383280" cy="128016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4E814A"/>
                </a:solidFill>
                <a:latin typeface="Aptos"/>
              </a:rPr>
              <a:t>Input checks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232323"/>
                </a:solidFill>
                <a:latin typeface="Aptos"/>
              </a:rPr>
              <a:t>rectangular file
valid symbols
exactly one S
exactly one 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383280" cy="1280160"/>
          </a:xfrm>
          <a:prstGeom prst="roundRect">
            <a:avLst/>
          </a:prstGeom>
          <a:solidFill>
            <a:srgbClr val="FCEBD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C87026"/>
                </a:solidFill>
                <a:latin typeface="Aptos"/>
              </a:rPr>
              <a:t>Output</a:t>
            </a:r>
          </a:p>
          <a:p>
            <a:pPr>
              <a:spcBef>
                <a:spcPts val="600"/>
              </a:spcBef>
            </a:pPr>
            <a:r>
              <a:rPr sz="1700" b="0">
                <a:solidFill>
                  <a:srgbClr val="232323"/>
                </a:solidFill>
                <a:latin typeface="Aptos"/>
              </a:rPr>
              <a:t>original maze
BFS result
DFS result
comparison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78992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183D5B"/>
                </a:solidFill>
                <a:latin typeface="Aptos"/>
              </a:rPr>
              <a:t>Four test files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small = basic test     compare = algorithm difference     dead_ends = branches     unsolvable = no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378440" cy="685800"/>
          </a:xfrm>
          <a:prstGeom prst="roundRect">
            <a:avLst/>
          </a:prstGeom>
          <a:solidFill>
            <a:srgbClr val="1E242B"/>
          </a:solidFill>
          <a:ln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E6EBF0"/>
                </a:solidFill>
                <a:latin typeface="Courier New"/>
              </a:rPr>
              <a:t>clang -std=c11 -Wall -Wextra -pedantic maze_solver.c -o maze_solver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41264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ptos"/>
              </a:rPr>
              <a:t>Current array limits are set in the code. To support much larger mazes, I would use dynamic memory and avoid recursive DFS.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Demo 1: comparison maze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83D5B"/>
                </a:solidFill>
                <a:latin typeface="Aptos"/>
              </a:rPr>
              <a:t>Purpose: same maze, two valid routes, different search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212080" cy="1143000"/>
          </a:xfrm>
          <a:prstGeom prst="roundRect">
            <a:avLst/>
          </a:prstGeom>
          <a:solidFill>
            <a:srgbClr val="1E242B"/>
          </a:solidFill>
          <a:ln>
            <a:solidFill>
              <a:srgbClr val="50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300" b="0">
                <a:solidFill>
                  <a:srgbClr val="E6EBF0"/>
                </a:solidFill>
                <a:latin typeface="Courier New"/>
              </a:rPr>
              <a:t>cd "Final Project"
clang -std=c11 -Wall -Wextra -pedantic maze_solver.c -o maze_solver
./maze_solver mazes/maze_compare.txt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194560" cy="137160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200" b="1">
                <a:solidFill>
                  <a:srgbClr val="2F5496"/>
                </a:solidFill>
                <a:latin typeface="Aptos"/>
              </a:rPr>
              <a:t>BFS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32323"/>
                </a:solidFill>
                <a:latin typeface="Aptos"/>
              </a:rPr>
              <a:t>path length: 22
explored: 45
short bottom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828800"/>
            <a:ext cx="2194560" cy="137160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200" b="1">
                <a:solidFill>
                  <a:srgbClr val="4E814A"/>
                </a:solidFill>
                <a:latin typeface="Aptos"/>
              </a:rPr>
              <a:t>DFS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232323"/>
                </a:solidFill>
                <a:latin typeface="Aptos"/>
              </a:rPr>
              <a:t>path length: 34
explored: 35
long upper 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10332720" cy="1051560"/>
          </a:xfrm>
          <a:prstGeom prst="roundRect">
            <a:avLst/>
          </a:prstGeom>
          <a:solidFill>
            <a:srgbClr val="FAFA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000" b="1">
                <a:solidFill>
                  <a:srgbClr val="183D5B"/>
                </a:solidFill>
                <a:latin typeface="Aptos"/>
              </a:rPr>
              <a:t>What to say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BFS finds the shorter path because it searches by distance. DFS checks upward first and stops after finding its first valid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32323"/>
                </a:solidFill>
                <a:latin typeface="Aptos"/>
              </a:rPr>
              <a:t>This is the main demo because it clearly shows the algorithm difference.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Demo 2: other test mazes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232323"/>
                </a:solidFill>
                <a:latin typeface="Aptos"/>
              </a:rPr>
              <a:t>Run these quickly after the main demo to show the program handles different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697480" cy="192024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2F5496"/>
                </a:solidFill>
                <a:latin typeface="Aptos"/>
              </a:rPr>
              <a:t>small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32323"/>
                </a:solidFill>
                <a:latin typeface="Aptos"/>
              </a:rPr>
              <a:t>./maze_solver mazes/maze_small.txt
BFS: 28
DFS: 28
One main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4448" y="1828800"/>
            <a:ext cx="2697480" cy="192024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4E814A"/>
                </a:solidFill>
                <a:latin typeface="Aptos"/>
              </a:rPr>
              <a:t>compare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32323"/>
                </a:solidFill>
                <a:latin typeface="Aptos"/>
              </a:rPr>
              <a:t>./maze_solver mazes/maze_compare.txt
BFS: 22
DFS: 34
Two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3096" y="1828800"/>
            <a:ext cx="2697480" cy="1920240"/>
          </a:xfrm>
          <a:prstGeom prst="roundRect">
            <a:avLst/>
          </a:prstGeom>
          <a:solidFill>
            <a:srgbClr val="FCEBD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C87026"/>
                </a:solidFill>
                <a:latin typeface="Aptos"/>
              </a:rPr>
              <a:t>dead_ends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32323"/>
                </a:solidFill>
                <a:latin typeface="Aptos"/>
              </a:rPr>
              <a:t>./maze_solver mazes/maze_dead_ends.txt
BFS: 19
DFS: 39
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81744" y="1828800"/>
            <a:ext cx="2697480" cy="1920240"/>
          </a:xfrm>
          <a:prstGeom prst="roundRect">
            <a:avLst/>
          </a:prstGeom>
          <a:solidFill>
            <a:srgbClr val="EBEBEB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800" b="1">
                <a:solidFill>
                  <a:srgbClr val="183D5B"/>
                </a:solidFill>
                <a:latin typeface="Aptos"/>
              </a:rPr>
              <a:t>unsolvable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32323"/>
                </a:solidFill>
                <a:latin typeface="Aptos"/>
              </a:rPr>
              <a:t>./maze_solver mazes/maze_unsolvable.txt
No path
S and E separated
Stops correctly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10332720" cy="1097280"/>
          </a:xfrm>
          <a:prstGeom prst="roundRect">
            <a:avLst/>
          </a:prstGeom>
          <a:solidFill>
            <a:srgbClr val="FAFA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1900" b="1">
                <a:solidFill>
                  <a:srgbClr val="183D5B"/>
                </a:solidFill>
                <a:latin typeface="Aptos"/>
              </a:rPr>
              <a:t>Important point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The goal is not that all outputs are different. Each file tests a different behavior: basic solving, algorithm comparison, branches, and no possible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3D5B"/>
                </a:solidFill>
                <a:latin typeface="Aptos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E0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474720" cy="1828800"/>
          </a:xfrm>
          <a:prstGeom prst="roundRect">
            <a:avLst/>
          </a:prstGeom>
          <a:solidFill>
            <a:srgbClr val="E0EDF7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200" b="1">
                <a:solidFill>
                  <a:srgbClr val="2F5496"/>
                </a:solidFill>
                <a:latin typeface="Aptos"/>
              </a:rPr>
              <a:t>BFS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Good when the shortest path matters.
Uses queue and parent arrays.
May explore more cells.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463040"/>
            <a:ext cx="3474720" cy="1828800"/>
          </a:xfrm>
          <a:prstGeom prst="roundRect">
            <a:avLst/>
          </a:prstGeom>
          <a:solidFill>
            <a:srgbClr val="E4F2E2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200" b="1">
                <a:solidFill>
                  <a:srgbClr val="4E814A"/>
                </a:solidFill>
                <a:latin typeface="Aptos"/>
              </a:rPr>
              <a:t>DFS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Good for finding a valid path.
Uses recursion.
First path may not be shortest.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108960" cy="1828800"/>
          </a:xfrm>
          <a:prstGeom prst="roundRect">
            <a:avLst/>
          </a:prstGeom>
          <a:solidFill>
            <a:srgbClr val="FCEBD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/>
          <a:lstStyle/>
          <a:p>
            <a:pPr algn="ctr"/>
            <a:r>
              <a:rPr sz="2200" b="1">
                <a:solidFill>
                  <a:srgbClr val="C87026"/>
                </a:solidFill>
                <a:latin typeface="Aptos"/>
              </a:rPr>
              <a:t>Testing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32323"/>
                </a:solidFill>
                <a:latin typeface="Aptos"/>
              </a:rPr>
              <a:t>Different maze files show different program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2412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183D5B"/>
                </a:solidFill>
                <a:latin typeface="Aptos"/>
              </a:rPr>
              <a:t>The main lesson: use the same input to compare algorithms fairly, and choose the algorithm based on the goal.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232323"/>
                </a:solidFill>
                <a:latin typeface="Aptos"/>
              </a:rP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646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